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60" r:id="rId4"/>
  </p:sldMasterIdLst>
  <p:notesMasterIdLst>
    <p:notesMasterId r:id="rId18"/>
  </p:notesMasterIdLst>
  <p:sldIdLst>
    <p:sldId id="517" r:id="rId5"/>
    <p:sldId id="538" r:id="rId6"/>
    <p:sldId id="376" r:id="rId7"/>
    <p:sldId id="456" r:id="rId8"/>
    <p:sldId id="555" r:id="rId9"/>
    <p:sldId id="558" r:id="rId10"/>
    <p:sldId id="559" r:id="rId11"/>
    <p:sldId id="560" r:id="rId12"/>
    <p:sldId id="561" r:id="rId13"/>
    <p:sldId id="556" r:id="rId14"/>
    <p:sldId id="553" r:id="rId15"/>
    <p:sldId id="562" r:id="rId16"/>
    <p:sldId id="557" r:id="rId1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8095B6-3E42-B641-0D1A-717F194BA9F6}" name="Leandro Duarte Pereira" initials="LP" userId="S::00002100@fepi.edu.br::00362f8d-9bdc-4967-880e-d9545fbc27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89272" autoAdjust="0"/>
  </p:normalViewPr>
  <p:slideViewPr>
    <p:cSldViewPr>
      <p:cViewPr varScale="1">
        <p:scale>
          <a:sx n="99" d="100"/>
          <a:sy n="99" d="100"/>
        </p:scale>
        <p:origin x="26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F0C55-5923-441E-8796-6E48626F640A}" type="datetimeFigureOut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E1CBD-03DB-4E0C-B67E-C3D33AFF1B15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598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5"/>
          <p:cNvSpPr/>
          <p:nvPr userDrawn="1"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rgbClr val="002060">
              <a:alpha val="54000"/>
            </a:srgb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3" name="Retângulo 7"/>
          <p:cNvSpPr/>
          <p:nvPr userDrawn="1"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4" name="Retângulo 8"/>
          <p:cNvSpPr/>
          <p:nvPr userDrawn="1"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5" name="Conector reto 10"/>
          <p:cNvSpPr>
            <a:spLocks noChangeShapeType="1"/>
          </p:cNvSpPr>
          <p:nvPr userDrawn="1"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6" name="Conector reto 11"/>
          <p:cNvSpPr>
            <a:spLocks noChangeShapeType="1"/>
          </p:cNvSpPr>
          <p:nvPr userDrawn="1"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7" name="Conector reto 12"/>
          <p:cNvSpPr>
            <a:spLocks noChangeShapeType="1"/>
          </p:cNvSpPr>
          <p:nvPr userDrawn="1"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8" name="Conector reto 13"/>
          <p:cNvSpPr>
            <a:spLocks noChangeShapeType="1"/>
          </p:cNvSpPr>
          <p:nvPr userDrawn="1"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9" name="Conector reto 14"/>
          <p:cNvSpPr>
            <a:spLocks noChangeShapeType="1"/>
          </p:cNvSpPr>
          <p:nvPr userDrawn="1"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40" name="Retângulo 15"/>
          <p:cNvSpPr/>
          <p:nvPr userDrawn="1"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1" name="Elipse 16"/>
          <p:cNvSpPr/>
          <p:nvPr userDrawn="1"/>
        </p:nvSpPr>
        <p:spPr bwMode="auto">
          <a:xfrm>
            <a:off x="609600" y="2523529"/>
            <a:ext cx="1295400" cy="12954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38100" cap="rnd" cmpd="sng" algn="ctr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2" name="Elipse 17"/>
          <p:cNvSpPr/>
          <p:nvPr userDrawn="1"/>
        </p:nvSpPr>
        <p:spPr bwMode="auto">
          <a:xfrm>
            <a:off x="1309688" y="3961804"/>
            <a:ext cx="641350" cy="64135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ap="rnd" cmpd="sng" algn="ctr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3" name="Elipse 18"/>
          <p:cNvSpPr/>
          <p:nvPr userDrawn="1"/>
        </p:nvSpPr>
        <p:spPr bwMode="auto">
          <a:xfrm>
            <a:off x="1090613" y="4595217"/>
            <a:ext cx="138112" cy="136525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 cap="rnd" cmpd="sng" algn="ctr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4" name="Elipse 19"/>
          <p:cNvSpPr/>
          <p:nvPr userDrawn="1"/>
        </p:nvSpPr>
        <p:spPr bwMode="auto">
          <a:xfrm>
            <a:off x="1663700" y="4882554"/>
            <a:ext cx="274638" cy="274638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 cap="rnd" cmpd="sng" algn="ctr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5" name="Elipse 20"/>
          <p:cNvSpPr/>
          <p:nvPr userDrawn="1"/>
        </p:nvSpPr>
        <p:spPr>
          <a:xfrm>
            <a:off x="1905000" y="3590329"/>
            <a:ext cx="365125" cy="365125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 cap="rnd" cmpd="sng" algn="ctr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4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0" y="332656"/>
            <a:ext cx="2520156" cy="2543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" name="Retângulo 25"/>
          <p:cNvSpPr/>
          <p:nvPr userDrawn="1"/>
        </p:nvSpPr>
        <p:spPr>
          <a:xfrm>
            <a:off x="248" y="0"/>
            <a:ext cx="39528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lang="en-US" sz="3600" b="1" kern="1200" cap="small" baseline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23528" y="1196752"/>
            <a:ext cx="8496000" cy="5112000"/>
          </a:xfrm>
        </p:spPr>
        <p:txBody>
          <a:bodyPr/>
          <a:lstStyle>
            <a:lvl1pPr>
              <a:defRPr sz="2800">
                <a:latin typeface="Calibri" pitchFamily="34" charset="0"/>
                <a:cs typeface="Calibri" pitchFamily="34" charset="0"/>
              </a:defRPr>
            </a:lvl1pPr>
            <a:lvl2pPr>
              <a:defRPr sz="2400">
                <a:latin typeface="Calibri" pitchFamily="34" charset="0"/>
                <a:cs typeface="Calibri" pitchFamily="34" charset="0"/>
              </a:defRPr>
            </a:lvl2pPr>
            <a:lvl3pPr>
              <a:defRPr sz="2200">
                <a:latin typeface="Calibri" pitchFamily="34" charset="0"/>
                <a:cs typeface="Calibri" pitchFamily="34" charset="0"/>
              </a:defRPr>
            </a:lvl3pPr>
            <a:lvl4pPr>
              <a:defRPr sz="2000">
                <a:latin typeface="Calibri" pitchFamily="34" charset="0"/>
                <a:cs typeface="Calibri" pitchFamily="34" charset="0"/>
              </a:defRPr>
            </a:lvl4pPr>
            <a:lvl5pPr>
              <a:defRPr sz="1800">
                <a:latin typeface="Calibri" pitchFamily="34" charset="0"/>
                <a:cs typeface="Calibri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F96EDF4-0260-4CEC-BC4D-BBE66DCBAF95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A6AAA0-4D2F-49F4-8C7D-F78337C55785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r>
              <a:rPr lang="pt-BR"/>
              <a:t>Trabalho de Conclusão de Curso - Tecnologia em Automação Industrial</a:t>
            </a:r>
            <a:endParaRPr lang="pt-BR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23528" y="980728"/>
            <a:ext cx="7920880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475928" y="1035958"/>
            <a:ext cx="792088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207A8035-2256-407F-A3B8-3C334C7FF736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r>
              <a:rPr lang="pt-BR"/>
              <a:t>Trabalho de Conclusão de Curso - Tecnologia em Automação Industrial</a:t>
            </a:r>
            <a:endParaRPr lang="pt-BR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5A6AAA0-4D2F-49F4-8C7D-F78337C55785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5122F-52C1-4CEE-AAF1-9B602EF0001E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Trabalho de Conclusão de Curso - Tecnologia em Automação Industrial</a:t>
            </a:r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6AAA0-4D2F-49F4-8C7D-F78337C55785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39BFE-2866-4B3D-892F-00C3840164DE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Trabalho de Conclusão de Curso - Tecnologia em Automação Industrial</a:t>
            </a:r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6AAA0-4D2F-49F4-8C7D-F78337C55785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0863478-1E0C-4CC1-953E-5C9F507E66D5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A6AAA0-4D2F-49F4-8C7D-F78337C55785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pt-BR"/>
              <a:t>Trabalho de Conclusão de Curso - Tecnologia em Automação Industrial</a:t>
            </a:r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4615-70CB-488A-A51D-A1860C388395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Trabalho de Conclusão de Curso - Tecnologia em Automação Industrial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6AAA0-4D2F-49F4-8C7D-F78337C55785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D4730E3A-F627-4CFA-AB91-17EDBE972038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A6AAA0-4D2F-49F4-8C7D-F78337C55785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r>
              <a:rPr lang="pt-BR"/>
              <a:t>Trabalho de Conclusão de Curso - Tecnologia em Automação Industrial</a:t>
            </a:r>
            <a:endParaRPr lang="pt-B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3C23DA-CE23-46C5-80D9-F3610F932FE9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A6AAA0-4D2F-49F4-8C7D-F78337C55785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pt-BR"/>
              <a:t>Trabalho de Conclusão de Curso - Tecnologia em Automação Industrial</a:t>
            </a:r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19F7-C68D-43F4-9133-7FBD88727644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Trabalho de Conclusão de Curso - Tecnologia em Automação Industrial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6AAA0-4D2F-49F4-8C7D-F78337C55785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59D0-FA0F-4D41-BA5B-B20EE51A8672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Trabalho de Conclusão de Curso - Tecnologia em Automação Industrial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6AAA0-4D2F-49F4-8C7D-F78337C55785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496944" cy="634082"/>
          </a:xfrm>
          <a:prstGeom prst="rect">
            <a:avLst/>
          </a:prstGeom>
        </p:spPr>
        <p:txBody>
          <a:bodyPr vert="horz" anchor="b">
            <a:no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23528" y="1196752"/>
            <a:ext cx="8496944" cy="511256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944696" y="6381328"/>
            <a:ext cx="2011680" cy="367200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 b="1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defRPr>
            </a:lvl1pPr>
          </a:lstStyle>
          <a:p>
            <a:fld id="{775F8CAB-9987-430F-B08B-B566F49F465E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25876" y="6381328"/>
            <a:ext cx="5470259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 b="1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pt-BR"/>
              <a:t>Trabalho de Conclusão de Curso - Tecnologia em Automação Industrial</a:t>
            </a:r>
            <a:endParaRPr lang="pt-BR" dirty="0"/>
          </a:p>
        </p:txBody>
      </p:sp>
      <p:sp>
        <p:nvSpPr>
          <p:cNvPr id="12" name="Oval 11"/>
          <p:cNvSpPr/>
          <p:nvPr/>
        </p:nvSpPr>
        <p:spPr>
          <a:xfrm>
            <a:off x="8545327" y="6040802"/>
            <a:ext cx="548640" cy="54864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38100" cap="rnd" cmpd="sng" algn="ctr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515682" y="6059366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5A6AAA0-4D2F-49F4-8C7D-F78337C55785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1451" y="116632"/>
            <a:ext cx="665453" cy="671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3600" b="1" kern="1200" cap="small" baseline="0">
          <a:solidFill>
            <a:schemeClr val="accent2">
              <a:lumMod val="75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8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22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8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8"/>
          <p:cNvSpPr txBox="1">
            <a:spLocks/>
          </p:cNvSpPr>
          <p:nvPr/>
        </p:nvSpPr>
        <p:spPr bwMode="auto">
          <a:xfrm>
            <a:off x="2072208" y="4804498"/>
            <a:ext cx="6964288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 anchor="t"/>
          <a:lstStyle/>
          <a:p>
            <a:pPr>
              <a:spcBef>
                <a:spcPct val="20000"/>
              </a:spcBef>
              <a:buFont typeface="Arial" charset="0"/>
              <a:buNone/>
            </a:pPr>
            <a:r>
              <a:rPr lang="pt-B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Calibri"/>
              </a:rPr>
              <a:t>Aluno: Lucas Geraldo Ribeiro de Faria e Wesley Bernardes de Souza Júnior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Calibri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pt-B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Calibri"/>
              </a:rPr>
              <a:t>Orientador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Calibri"/>
              </a:rPr>
              <a:t>: Luiz Fernando Nunes</a:t>
            </a:r>
            <a:endParaRPr lang="en-US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cs typeface="Calibri"/>
            </a:endParaRPr>
          </a:p>
          <a:p>
            <a:pPr algn="ctr">
              <a:spcBef>
                <a:spcPct val="20000"/>
              </a:spcBef>
              <a:buFont typeface="Arial" charset="0"/>
              <a:buNone/>
            </a:pPr>
            <a:endParaRPr lang="pt-BR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cs typeface="Calibri"/>
            </a:endParaRPr>
          </a:p>
          <a:p>
            <a:pPr algn="ctr">
              <a:spcBef>
                <a:spcPct val="20000"/>
              </a:spcBef>
            </a:pPr>
            <a:r>
              <a:rPr lang="pt-B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AEE</a:t>
            </a:r>
          </a:p>
        </p:txBody>
      </p:sp>
      <p:sp>
        <p:nvSpPr>
          <p:cNvPr id="3" name="Título 7"/>
          <p:cNvSpPr txBox="1">
            <a:spLocks/>
          </p:cNvSpPr>
          <p:nvPr/>
        </p:nvSpPr>
        <p:spPr>
          <a:xfrm>
            <a:off x="2205980" y="3400342"/>
            <a:ext cx="6696744" cy="2088232"/>
          </a:xfrm>
          <a:prstGeom prst="rect">
            <a:avLst/>
          </a:prstGeom>
        </p:spPr>
        <p:txBody>
          <a:bodyPr lIns="91440" tIns="45720" rIns="91440" bIns="45720" anchor="t"/>
          <a:lstStyle>
            <a:lvl1pPr>
              <a:defRPr b="1"/>
            </a:lvl1pPr>
          </a:lstStyle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Calibri"/>
              </a:rPr>
              <a:t>PLATAFORMA SAAS PARA CONTROLE FINANCEIRO PESSOAL COM DASHBOARDS INTERATIVOS E IMPORTAÇÃO DE DADOS</a:t>
            </a:r>
          </a:p>
        </p:txBody>
      </p:sp>
    </p:spTree>
    <p:extLst>
      <p:ext uri="{BB962C8B-B14F-4D97-AF65-F5344CB8AC3E}">
        <p14:creationId xmlns:p14="http://schemas.microsoft.com/office/powerpoint/2010/main" val="214144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6636">
        <p:fade/>
      </p:transition>
    </mc:Choice>
    <mc:Fallback xmlns="">
      <p:transition spd="med" advTm="16636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Sumário 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87016" y="1196752"/>
            <a:ext cx="8101408" cy="5112000"/>
          </a:xfrm>
        </p:spPr>
        <p:txBody>
          <a:bodyPr vert="horz" lIns="91440" tIns="45720" rIns="91440" bIns="45720" anchor="t">
            <a:normAutofit/>
          </a:bodyPr>
          <a:lstStyle/>
          <a:p>
            <a:pPr marL="457200" lvl="2" indent="-4572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sz="2800" dirty="0">
                <a:latin typeface="Times New Roman"/>
                <a:cs typeface="Calibri"/>
              </a:rPr>
              <a:t>Introdução</a:t>
            </a:r>
          </a:p>
          <a:p>
            <a:pPr marL="457200" lvl="2" indent="-4572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sz="2800" dirty="0">
                <a:latin typeface="Times New Roman"/>
                <a:cs typeface="Calibri"/>
              </a:rPr>
              <a:t>Objetivo Geral</a:t>
            </a:r>
          </a:p>
          <a:p>
            <a:pPr marL="457200" lvl="2" indent="-4572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sz="2800" dirty="0">
                <a:latin typeface="Times New Roman"/>
                <a:cs typeface="Calibri"/>
              </a:rPr>
              <a:t>Objetivo Especifico</a:t>
            </a:r>
          </a:p>
          <a:p>
            <a:pPr marL="457200" lvl="2" indent="-4572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sz="2800" dirty="0">
                <a:latin typeface="Times New Roman"/>
                <a:cs typeface="Calibri"/>
              </a:rPr>
              <a:t>Protótipo</a:t>
            </a:r>
          </a:p>
          <a:p>
            <a:pPr marL="457200" lvl="2" indent="-4572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sz="2800" dirty="0">
                <a:latin typeface="Times New Roman"/>
                <a:cs typeface="Calibri"/>
              </a:rPr>
              <a:t>Revisão bibliográfica </a:t>
            </a:r>
            <a:endParaRPr lang="pt-BR" sz="2600" dirty="0">
              <a:latin typeface="Times New Roman"/>
              <a:cs typeface="Calibri"/>
            </a:endParaRPr>
          </a:p>
          <a:p>
            <a:pPr marL="457200" lvl="2" indent="-4572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sz="2800" dirty="0">
                <a:latin typeface="Times New Roman"/>
                <a:cs typeface="Times New Roman"/>
              </a:rPr>
              <a:t>Referências</a:t>
            </a:r>
          </a:p>
          <a:p>
            <a:pPr marL="457200" lvl="2" indent="-4572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pt-BR" sz="2800" dirty="0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pt-BR" dirty="0"/>
              <a:t>16/12/2022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A6AAA0-4D2F-49F4-8C7D-F78337C55785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pt-BR"/>
              <a:t>Trabalho de Conclusão de Curso</a:t>
            </a:r>
          </a:p>
        </p:txBody>
      </p:sp>
    </p:spTree>
    <p:extLst>
      <p:ext uri="{BB962C8B-B14F-4D97-AF65-F5344CB8AC3E}">
        <p14:creationId xmlns:p14="http://schemas.microsoft.com/office/powerpoint/2010/main" val="14035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1. Introdução 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23528" y="1196752"/>
            <a:ext cx="8243488" cy="5040000"/>
          </a:xfrm>
        </p:spPr>
        <p:txBody>
          <a:bodyPr vert="horz" lIns="91440" tIns="45720" rIns="91440" bIns="45720" anchor="t">
            <a:normAutofit lnSpcReduction="10000"/>
          </a:bodyPr>
          <a:lstStyle/>
          <a:p>
            <a:pPr algn="just">
              <a:spcBef>
                <a:spcPts val="0"/>
              </a:spcBef>
            </a:pPr>
            <a:r>
              <a:rPr lang="pt-BR" sz="2400" dirty="0"/>
              <a:t>Contextualização histórica da relação entre o ser humano e o dinheiro: desafios de organização e tomada de decisões.</a:t>
            </a:r>
          </a:p>
          <a:p>
            <a:pPr algn="just">
              <a:spcBef>
                <a:spcPts val="0"/>
              </a:spcBef>
            </a:pPr>
            <a:endParaRPr lang="pt-BR" sz="2400" dirty="0"/>
          </a:p>
          <a:p>
            <a:pPr algn="just">
              <a:spcBef>
                <a:spcPts val="0"/>
              </a:spcBef>
            </a:pPr>
            <a:r>
              <a:rPr lang="pt-BR" sz="2400" dirty="0"/>
              <a:t>Crescimento de serviços digitais e demanda por ferramentas de gestão financeira modernas.</a:t>
            </a:r>
          </a:p>
          <a:p>
            <a:pPr algn="just">
              <a:spcBef>
                <a:spcPts val="0"/>
              </a:spcBef>
            </a:pPr>
            <a:endParaRPr lang="pt-BR" sz="2400" dirty="0"/>
          </a:p>
          <a:p>
            <a:pPr algn="just">
              <a:spcBef>
                <a:spcPts val="0"/>
              </a:spcBef>
            </a:pPr>
            <a:r>
              <a:rPr lang="pt-BR" sz="2400" dirty="0"/>
              <a:t>Tema do TCC: “Plataforma SaaS para controle financeiro pessoal com dashboards interativos e importação de dados”.</a:t>
            </a:r>
          </a:p>
          <a:p>
            <a:pPr algn="just">
              <a:spcBef>
                <a:spcPts val="0"/>
              </a:spcBef>
            </a:pPr>
            <a:endParaRPr lang="pt-BR" sz="2400" dirty="0"/>
          </a:p>
          <a:p>
            <a:pPr algn="just">
              <a:spcBef>
                <a:spcPts val="0"/>
              </a:spcBef>
            </a:pPr>
            <a:r>
              <a:rPr lang="pt-BR" sz="2400" dirty="0"/>
              <a:t>Alinhamento aos Objetivos de Desenvolvimento Sustentável (ODS):</a:t>
            </a:r>
          </a:p>
          <a:p>
            <a:pPr lvl="1" algn="just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pt-BR" dirty="0"/>
              <a:t>ODS 1 – Erradicação da pobreza</a:t>
            </a:r>
          </a:p>
          <a:p>
            <a:pPr lvl="1" algn="just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pt-BR" dirty="0"/>
              <a:t>ODS 8 – Trabalho decente e crescimento econômico</a:t>
            </a:r>
          </a:p>
          <a:p>
            <a:pPr lvl="1" algn="just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pt-BR" dirty="0"/>
              <a:t>ODS 12 – Consumo e produção responsáveis </a:t>
            </a:r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42D8477-B04F-4BA2-B6E7-78781711420A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A6AAA0-4D2F-49F4-8C7D-F78337C55785}" type="slidenum">
              <a:rPr lang="pt-BR" smtClean="0"/>
              <a:pPr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52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4479">
        <p:fade/>
      </p:transition>
    </mc:Choice>
    <mc:Fallback xmlns="">
      <p:transition spd="med" advTm="14479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>
            <a:noAutofit/>
          </a:bodyPr>
          <a:lstStyle/>
          <a:p>
            <a:r>
              <a:rPr lang="pt-BR" dirty="0">
                <a:latin typeface="Calibri"/>
                <a:cs typeface="Calibri"/>
              </a:rPr>
              <a:t>2. Objetivo Geral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23528" y="1196752"/>
            <a:ext cx="8280000" cy="5040000"/>
          </a:xfrm>
        </p:spPr>
        <p:txBody>
          <a:bodyPr vert="horz" lIns="91440" tIns="45720" rIns="91440" bIns="45720" anchor="t">
            <a:normAutofit/>
          </a:bodyPr>
          <a:lstStyle/>
          <a:p>
            <a:pPr algn="just">
              <a:spcBef>
                <a:spcPts val="0"/>
              </a:spcBef>
            </a:pPr>
            <a:r>
              <a:rPr lang="pt-BR" sz="2400" dirty="0">
                <a:latin typeface="Times New Roman"/>
              </a:rPr>
              <a:t>Desenvolver uma plataforma SaaS para controle financeiro pessoal e empresarial, oferecendo:</a:t>
            </a:r>
          </a:p>
          <a:p>
            <a:pPr lvl="1" algn="just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pt-BR" dirty="0">
                <a:latin typeface="Times New Roman"/>
              </a:rPr>
              <a:t>Categorização de transações</a:t>
            </a:r>
          </a:p>
          <a:p>
            <a:pPr lvl="1" algn="just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pt-BR" dirty="0">
                <a:latin typeface="Times New Roman"/>
              </a:rPr>
              <a:t>Visualização gráfica interativa dos dados</a:t>
            </a:r>
          </a:p>
          <a:p>
            <a:pPr lvl="1" algn="just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pt-BR" dirty="0">
                <a:latin typeface="Times New Roman"/>
              </a:rPr>
              <a:t>Importação de informações via CSV e integração bancária</a:t>
            </a:r>
          </a:p>
          <a:p>
            <a:pPr lvl="1" algn="just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pt-BR" dirty="0">
                <a:latin typeface="Times New Roman"/>
              </a:rPr>
              <a:t>Relatórios inteligentes que promovam planejamento financeiro e consumo consciente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96EDF4-0260-4CEC-BC4D-BBE66DCBAF95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A6AAA0-4D2F-49F4-8C7D-F78337C55785}" type="slidenum">
              <a:rPr lang="pt-BR" smtClean="0"/>
              <a:pPr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822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>
            <a:noAutofit/>
          </a:bodyPr>
          <a:lstStyle/>
          <a:p>
            <a:r>
              <a:rPr lang="pt-BR" dirty="0">
                <a:latin typeface="Calibri"/>
                <a:cs typeface="Calibri"/>
              </a:rPr>
              <a:t>3. Objetivo Especifico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23528" y="1196752"/>
            <a:ext cx="8280000" cy="5040000"/>
          </a:xfrm>
        </p:spPr>
        <p:txBody>
          <a:bodyPr vert="horz" lIns="91440" tIns="45720" rIns="91440" bIns="45720" anchor="t">
            <a:normAutofit lnSpcReduction="10000"/>
          </a:bodyPr>
          <a:lstStyle/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pt-BR" sz="2400" dirty="0">
                <a:latin typeface="Times New Roman" pitchFamily="18" charset="0"/>
                <a:cs typeface="Calibri"/>
              </a:rPr>
              <a:t>Identificar as principais dificuldades enfrentadas por usuários na gestão de finanças pessoais e empresariais. </a:t>
            </a: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endParaRPr lang="pt-BR" sz="2400" dirty="0">
              <a:latin typeface="Times New Roman" pitchFamily="18" charset="0"/>
              <a:cs typeface="Calibri"/>
            </a:endParaRP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pt-BR" sz="2400" dirty="0">
                <a:latin typeface="Times New Roman" pitchFamily="18" charset="0"/>
                <a:cs typeface="Calibri"/>
              </a:rPr>
              <a:t>Projetar interface intuitiva para registro, categorização e análise de transações financeiras.</a:t>
            </a: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endParaRPr lang="pt-BR" sz="2400" dirty="0">
              <a:latin typeface="Times New Roman" pitchFamily="18" charset="0"/>
              <a:cs typeface="Calibri"/>
            </a:endParaRP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pt-BR" sz="2400" dirty="0">
                <a:latin typeface="Times New Roman" pitchFamily="18" charset="0"/>
                <a:cs typeface="Calibri"/>
              </a:rPr>
              <a:t>Implementar importação de dados via CSV e integração com instituições bancárias por meio do </a:t>
            </a:r>
            <a:r>
              <a:rPr lang="pt-BR" sz="2400" dirty="0" err="1">
                <a:latin typeface="Times New Roman" pitchFamily="18" charset="0"/>
                <a:cs typeface="Calibri"/>
              </a:rPr>
              <a:t>Plaid</a:t>
            </a:r>
            <a:r>
              <a:rPr lang="pt-BR" sz="2400" dirty="0">
                <a:latin typeface="Times New Roman" pitchFamily="18" charset="0"/>
                <a:cs typeface="Calibri"/>
              </a:rPr>
              <a:t> </a:t>
            </a: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endParaRPr lang="pt-BR" sz="2400" dirty="0">
              <a:latin typeface="Times New Roman" pitchFamily="18" charset="0"/>
              <a:cs typeface="Calibri"/>
            </a:endParaRP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pt-BR" sz="2400" dirty="0">
                <a:latin typeface="Times New Roman" pitchFamily="18" charset="0"/>
                <a:cs typeface="Calibri"/>
              </a:rPr>
              <a:t>Disponibilizar recursos premium em modelo de assinatura, usando Lemon </a:t>
            </a:r>
            <a:r>
              <a:rPr lang="pt-BR" sz="2400" dirty="0" err="1">
                <a:latin typeface="Times New Roman" pitchFamily="18" charset="0"/>
                <a:cs typeface="Calibri"/>
              </a:rPr>
              <a:t>Squeezy</a:t>
            </a:r>
            <a:r>
              <a:rPr lang="pt-BR" sz="2400" dirty="0">
                <a:latin typeface="Times New Roman" pitchFamily="18" charset="0"/>
                <a:cs typeface="Calibri"/>
              </a:rPr>
              <a:t> como sistema de pagamentos </a:t>
            </a: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endParaRPr lang="pt-BR" sz="2400" dirty="0">
              <a:latin typeface="Times New Roman" pitchFamily="18" charset="0"/>
              <a:cs typeface="Calibri"/>
            </a:endParaRPr>
          </a:p>
          <a:p>
            <a:pPr marL="457200" indent="-457200" algn="just">
              <a:spcBef>
                <a:spcPts val="0"/>
              </a:spcBef>
              <a:buFont typeface="+mj-lt"/>
              <a:buAutoNum type="arabicPeriod"/>
            </a:pPr>
            <a:r>
              <a:rPr lang="pt-BR" sz="2400" dirty="0">
                <a:latin typeface="Times New Roman" pitchFamily="18" charset="0"/>
                <a:cs typeface="Calibri"/>
              </a:rPr>
              <a:t>Validar a solução por testes de usabilidade com usuários reais e análise de impacto financeiro 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96EDF4-0260-4CEC-BC4D-BBE66DCBAF95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A6AAA0-4D2F-49F4-8C7D-F78337C55785}" type="slidenum">
              <a:rPr lang="pt-BR" smtClean="0"/>
              <a:pPr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7877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3CF56-E26E-49F3-042D-73E55DE0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E1A48-9D8A-F86E-8E01-5C2D79B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>
            <a:noAutofit/>
          </a:bodyPr>
          <a:lstStyle/>
          <a:p>
            <a:r>
              <a:rPr lang="pt-BR" dirty="0">
                <a:latin typeface="Calibri"/>
                <a:cs typeface="Calibri"/>
              </a:rPr>
              <a:t>4. Protótipo</a:t>
            </a:r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5BEECD4F-7B75-D4C9-AA18-42427A9AE32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23528" y="1311575"/>
            <a:ext cx="4234349" cy="3766753"/>
          </a:xfr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87206C-366C-CE70-AEB7-DA195A5F2F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96EDF4-0260-4CEC-BC4D-BBE66DCBAF95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AD49EE-BBE8-CAD3-8C3B-E0352309291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A6AAA0-4D2F-49F4-8C7D-F78337C55785}" type="slidenum">
              <a:rPr lang="pt-BR" smtClean="0"/>
              <a:pPr/>
              <a:t>6</a:t>
            </a:fld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DCE73CE-6A1C-8611-7457-5BD4D9544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345" y="1311823"/>
            <a:ext cx="4248268" cy="3766505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6CDA9C05-1CCF-C618-17BC-70C04FDFE534}"/>
              </a:ext>
            </a:extLst>
          </p:cNvPr>
          <p:cNvSpPr txBox="1"/>
          <p:nvPr/>
        </p:nvSpPr>
        <p:spPr>
          <a:xfrm>
            <a:off x="323528" y="5269000"/>
            <a:ext cx="6241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https://whimsical.com/tcc-YZ99oUkKmemcc28x1DsPX7</a:t>
            </a:r>
          </a:p>
        </p:txBody>
      </p:sp>
    </p:spTree>
    <p:extLst>
      <p:ext uri="{BB962C8B-B14F-4D97-AF65-F5344CB8AC3E}">
        <p14:creationId xmlns:p14="http://schemas.microsoft.com/office/powerpoint/2010/main" val="2921462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27404-2A89-DCB7-9A77-9959EA31C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CCB06-A906-2467-7E4F-17754694C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>
            <a:noAutofit/>
          </a:bodyPr>
          <a:lstStyle/>
          <a:p>
            <a:r>
              <a:rPr lang="pt-BR" dirty="0">
                <a:latin typeface="Calibri"/>
                <a:cs typeface="Calibri"/>
              </a:rPr>
              <a:t>4. Protótipo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5821B7-86E2-882F-4239-2CAE127F1C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96EDF4-0260-4CEC-BC4D-BBE66DCBAF95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557E905-F829-A813-50F4-AC674AE1EB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A6AAA0-4D2F-49F4-8C7D-F78337C55785}" type="slidenum">
              <a:rPr lang="pt-BR" smtClean="0"/>
              <a:pPr/>
              <a:t>7</a:t>
            </a:fld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F5597A6-7DF1-67DB-D9E5-7DF3CCC8E173}"/>
              </a:ext>
            </a:extLst>
          </p:cNvPr>
          <p:cNvSpPr txBox="1"/>
          <p:nvPr/>
        </p:nvSpPr>
        <p:spPr>
          <a:xfrm>
            <a:off x="323528" y="5269000"/>
            <a:ext cx="6241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https://whimsical.com/tcc-YZ99oUkKmemcc28x1DsPX7</a:t>
            </a:r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82201350-2393-4826-17A3-B802FAB52E8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22536" y="1340768"/>
            <a:ext cx="4204733" cy="3744193"/>
          </a:xfr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55AA678-413C-2EEB-6E7F-E008286D4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152" y="1340768"/>
            <a:ext cx="4187104" cy="374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747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03936-E536-A303-71D2-C988A28FE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D4D21-0D58-E8A4-3F3F-66F516BC0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>
            <a:noAutofit/>
          </a:bodyPr>
          <a:lstStyle/>
          <a:p>
            <a:r>
              <a:rPr lang="pt-BR" dirty="0">
                <a:latin typeface="Calibri"/>
                <a:cs typeface="Calibri"/>
              </a:rPr>
              <a:t>4. Protótipo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E28851-B74A-0F84-19F0-E24162B7D4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96EDF4-0260-4CEC-BC4D-BBE66DCBAF95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7A3DCF7-896C-4073-BB7D-6485EADAE3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A6AAA0-4D2F-49F4-8C7D-F78337C55785}" type="slidenum">
              <a:rPr lang="pt-BR" smtClean="0"/>
              <a:pPr/>
              <a:t>8</a:t>
            </a:fld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DA11568-D6F0-03A7-3844-02F0A651333F}"/>
              </a:ext>
            </a:extLst>
          </p:cNvPr>
          <p:cNvSpPr txBox="1"/>
          <p:nvPr/>
        </p:nvSpPr>
        <p:spPr>
          <a:xfrm>
            <a:off x="323528" y="5269000"/>
            <a:ext cx="6241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https://whimsical.com/tcc-YZ99oUkKmemcc28x1DsPX7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56FD0909-8D5A-EC29-AEE5-CE5DEFCC382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23528" y="1340768"/>
            <a:ext cx="4204800" cy="3760240"/>
          </a:xfr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01A11C9-126A-DB2C-365C-95BB50C77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946" y="1340768"/>
            <a:ext cx="4204800" cy="378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845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F3592-BD85-231D-931A-6FDD13BCC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E7339-DB7D-1DED-571E-3466760FA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>
            <a:noAutofit/>
          </a:bodyPr>
          <a:lstStyle/>
          <a:p>
            <a:r>
              <a:rPr lang="pt-BR" dirty="0">
                <a:latin typeface="Calibri"/>
                <a:cs typeface="Calibri"/>
              </a:rPr>
              <a:t>4. Protótipo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77F428-3173-5929-1B26-30D40DB6543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96EDF4-0260-4CEC-BC4D-BBE66DCBAF95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1789124-6FBA-526D-DA1F-173A22E82E7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A6AAA0-4D2F-49F4-8C7D-F78337C55785}" type="slidenum">
              <a:rPr lang="pt-BR" smtClean="0"/>
              <a:pPr/>
              <a:t>9</a:t>
            </a:fld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6D10843-6996-14CB-031B-61BD049D1AF7}"/>
              </a:ext>
            </a:extLst>
          </p:cNvPr>
          <p:cNvSpPr txBox="1"/>
          <p:nvPr/>
        </p:nvSpPr>
        <p:spPr>
          <a:xfrm>
            <a:off x="323528" y="5269000"/>
            <a:ext cx="6241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https://whimsical.com/tcc-YZ99oUkKmemcc28x1DsPX7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4BB9D0E-0112-FD34-1605-289D92866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348550"/>
            <a:ext cx="4204800" cy="376865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EA9FC11-6443-A8B4-6077-4DF47E1CD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1348550"/>
            <a:ext cx="4199704" cy="376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71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anchor="b">
            <a:noAutofit/>
          </a:bodyPr>
          <a:lstStyle/>
          <a:p>
            <a:r>
              <a:rPr lang="pt-BR" dirty="0">
                <a:latin typeface="Calibri"/>
                <a:cs typeface="Calibri"/>
              </a:rPr>
              <a:t>5. </a:t>
            </a:r>
            <a:r>
              <a:rPr lang="pt-BR" dirty="0"/>
              <a:t>Revisão</a:t>
            </a:r>
            <a:r>
              <a:rPr lang="pt-BR" dirty="0">
                <a:latin typeface="Times New Roman"/>
                <a:cs typeface="Calibri"/>
              </a:rPr>
              <a:t> </a:t>
            </a:r>
            <a:r>
              <a:rPr lang="pt-BR" dirty="0">
                <a:latin typeface="Calibri"/>
                <a:cs typeface="Calibri"/>
              </a:rPr>
              <a:t>bibliográfica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23528" y="1196752"/>
            <a:ext cx="8280000" cy="5040000"/>
          </a:xfrm>
        </p:spPr>
        <p:txBody>
          <a:bodyPr vert="horz" lIns="91440" tIns="45720" rIns="91440" bIns="45720" anchor="t">
            <a:normAutofit fontScale="92500" lnSpcReduction="20000"/>
          </a:bodyPr>
          <a:lstStyle/>
          <a:p>
            <a:pPr algn="just">
              <a:spcBef>
                <a:spcPts val="0"/>
              </a:spcBef>
            </a:pP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Modelos SaaS em aplicações financeiras: conceitos, arquiteturas e benefícios (UNIVERSIDADE FEDERAL DO RIO GRANDE DO SUL, 2020)</a:t>
            </a:r>
          </a:p>
          <a:p>
            <a:pPr algn="just">
              <a:spcBef>
                <a:spcPts val="0"/>
              </a:spcBef>
            </a:pPr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Educação financeira: impacto de ferramentas digitais na alfabetização financeira individual e empresarial (PERIÓDICOS UFPE, 2022)</a:t>
            </a:r>
          </a:p>
          <a:p>
            <a:pPr algn="just">
              <a:spcBef>
                <a:spcPts val="0"/>
              </a:spcBef>
            </a:pPr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Dashboards interativos: boas práticas de visualização de dados financeiros (PERIÓDICOS UFPE, 2022)</a:t>
            </a:r>
          </a:p>
          <a:p>
            <a:pPr algn="just">
              <a:spcBef>
                <a:spcPts val="0"/>
              </a:spcBef>
            </a:pPr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Técnicas de importação de dados: padrões CSV × APIs bancárias (ex.: </a:t>
            </a:r>
            <a:r>
              <a:rPr lang="pt-BR" sz="2400" dirty="0" err="1">
                <a:latin typeface="Times New Roman" pitchFamily="18" charset="0"/>
                <a:cs typeface="Times New Roman" pitchFamily="18" charset="0"/>
              </a:rPr>
              <a:t>Plaid</a:t>
            </a: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) (UMA ANÁLISE DE SISTEMAS PARA PLANEJAMENTO FINANCEIRO FAMILIAR, 2021)</a:t>
            </a:r>
          </a:p>
          <a:p>
            <a:pPr algn="just">
              <a:spcBef>
                <a:spcPts val="0"/>
              </a:spcBef>
            </a:pPr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Modelos de monetização: assinaturas e </a:t>
            </a:r>
            <a:r>
              <a:rPr lang="pt-BR" sz="2400" dirty="0" err="1">
                <a:latin typeface="Times New Roman" pitchFamily="18" charset="0"/>
                <a:cs typeface="Times New Roman" pitchFamily="18" charset="0"/>
              </a:rPr>
              <a:t>freemium</a:t>
            </a: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 em plataformas SaaS (ex.: </a:t>
            </a:r>
            <a:r>
              <a:rPr lang="pt-BR" sz="2400" dirty="0" err="1">
                <a:latin typeface="Times New Roman" pitchFamily="18" charset="0"/>
                <a:cs typeface="Times New Roman" pitchFamily="18" charset="0"/>
              </a:rPr>
              <a:t>AcompanhaMe</a:t>
            </a: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®) (UNIVERSIDADE FEDERAL DO PAMPAS, 2017)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96EDF4-0260-4CEC-BC4D-BBE66DCBAF95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A6AAA0-4D2F-49F4-8C7D-F78337C55785}" type="slidenum">
              <a:rPr lang="pt-BR" smtClean="0"/>
              <a:pPr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917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anchor="b">
            <a:noAutofit/>
          </a:bodyPr>
          <a:lstStyle/>
          <a:p>
            <a:pPr>
              <a:defRPr/>
            </a:pPr>
            <a:r>
              <a:rPr lang="pt-BR" dirty="0">
                <a:latin typeface="Times New Roman"/>
                <a:cs typeface="Calibri"/>
              </a:rPr>
              <a:t>6. Referências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87016" y="1196752"/>
            <a:ext cx="8749480" cy="5256584"/>
          </a:xfrm>
        </p:spPr>
        <p:txBody>
          <a:bodyPr vert="horz" lIns="91440" tIns="45720" rIns="91440" bIns="45720" anchor="t">
            <a:normAutofit fontScale="92500"/>
          </a:bodyPr>
          <a:lstStyle/>
          <a:p>
            <a:pPr algn="just">
              <a:buNone/>
            </a:pPr>
            <a:r>
              <a:rPr lang="pt-BR" sz="2400" dirty="0">
                <a:latin typeface="Times New Roman"/>
              </a:rPr>
              <a:t>PERIÓDICOS UFPE. Aplicativos de gestão financeira: um estudo exploratório. Revista de Administração da UFPE, Recife, 2022. Disponível em: Periódicos UFPE. Acesso em: 30 mai. 2025.</a:t>
            </a:r>
          </a:p>
          <a:p>
            <a:pPr algn="just">
              <a:buNone/>
            </a:pPr>
            <a:r>
              <a:rPr lang="pt-BR" sz="2400" dirty="0">
                <a:latin typeface="Times New Roman"/>
              </a:rPr>
              <a:t>UMA ANÁLISE DE SISTEMAS PARA PLANEJAMENTO FINANCEIRO FAMILIAR: mapeamento sistemático da literatura. 2021. Disponível em: </a:t>
            </a:r>
            <a:r>
              <a:rPr lang="pt-BR" sz="2400" dirty="0" err="1">
                <a:latin typeface="Times New Roman"/>
              </a:rPr>
              <a:t>ResearchGate</a:t>
            </a:r>
            <a:r>
              <a:rPr lang="pt-BR" sz="2400" dirty="0">
                <a:latin typeface="Times New Roman"/>
              </a:rPr>
              <a:t>. Acesso em: 30 mai. 2025.</a:t>
            </a:r>
          </a:p>
          <a:p>
            <a:pPr algn="just">
              <a:buNone/>
            </a:pPr>
            <a:r>
              <a:rPr lang="pt-BR" sz="2400" dirty="0">
                <a:latin typeface="Times New Roman"/>
              </a:rPr>
              <a:t>APLICAÇÃO WEB MÓVEL PARA CONTROLE DE FINANÇAS PESSOAIS. 2017. Monografia – Universidade Federal de Sergipe, São Cristóvão, 2017. Disponível em: ri.ufs.br. Acesso em: 30 mai. 2025.</a:t>
            </a:r>
          </a:p>
          <a:p>
            <a:pPr algn="just">
              <a:buNone/>
            </a:pPr>
            <a:r>
              <a:rPr lang="pt-BR" sz="2400" dirty="0">
                <a:latin typeface="Times New Roman"/>
              </a:rPr>
              <a:t>IMPLEMENTAÇÃO DE SOFTWARE DE CONTROLE FINANCEIRO EM MICROEMPRESAS (</a:t>
            </a:r>
            <a:r>
              <a:rPr lang="pt-BR" sz="2400" dirty="0" err="1">
                <a:latin typeface="Times New Roman"/>
              </a:rPr>
              <a:t>AcompanhaME</a:t>
            </a:r>
            <a:r>
              <a:rPr lang="pt-BR" sz="2400" dirty="0">
                <a:latin typeface="Times New Roman"/>
              </a:rPr>
              <a:t>®). 2017. Trabalho de Conclusão de Curso – Universidade Federal do Pampa, Campus Caçapava do Sul, 2017. Disponível em: </a:t>
            </a:r>
            <a:r>
              <a:rPr lang="pt-BR" sz="2400" dirty="0" err="1">
                <a:latin typeface="Times New Roman"/>
              </a:rPr>
              <a:t>DSpace</a:t>
            </a:r>
            <a:r>
              <a:rPr lang="pt-BR" sz="2400" dirty="0">
                <a:latin typeface="Times New Roman"/>
              </a:rPr>
              <a:t> </a:t>
            </a:r>
            <a:r>
              <a:rPr lang="pt-BR" sz="2400" dirty="0" err="1">
                <a:latin typeface="Times New Roman"/>
              </a:rPr>
              <a:t>Unipampa</a:t>
            </a:r>
            <a:r>
              <a:rPr lang="pt-BR" sz="2400" dirty="0">
                <a:latin typeface="Times New Roman"/>
              </a:rPr>
              <a:t>. Acesso em: 30 mai. 2025.</a:t>
            </a:r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96EDF4-0260-4CEC-BC4D-BBE66DCBAF95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A6AAA0-4D2F-49F4-8C7D-F78337C55785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561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FB9C7-154E-CB77-4863-759D91371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BD5E0E1-D856-9D97-59EA-80E56F058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anchor="b">
            <a:noAutofit/>
          </a:bodyPr>
          <a:lstStyle/>
          <a:p>
            <a:pPr>
              <a:defRPr/>
            </a:pPr>
            <a:r>
              <a:rPr lang="pt-BR" dirty="0">
                <a:latin typeface="Times New Roman"/>
                <a:cs typeface="Calibri"/>
              </a:rPr>
              <a:t>6. Referências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6F262C3B-2A05-634C-7A23-1CD5DA286B30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287016" y="1196752"/>
            <a:ext cx="8749480" cy="5256584"/>
          </a:xfrm>
        </p:spPr>
        <p:txBody>
          <a:bodyPr vert="horz" lIns="91440" tIns="45720" rIns="91440" bIns="45720" anchor="t">
            <a:normAutofit/>
          </a:bodyPr>
          <a:lstStyle/>
          <a:p>
            <a:pPr algn="just">
              <a:buNone/>
            </a:pPr>
            <a:r>
              <a:rPr lang="pt-BR" sz="2400" dirty="0">
                <a:latin typeface="Times New Roman"/>
              </a:rPr>
              <a:t>DESENVOLVIMENTO DE UM APLICATIVO PARA CONTROLE FINANCEIRO PESSOAL. 2021. Monografia – Universidade Federal de Ouro Preto, Ouro Preto, 2021. Disponível em: Monografias UFOP. Acesso em: 30 mai. 2025.</a:t>
            </a:r>
          </a:p>
          <a:p>
            <a:pPr algn="just">
              <a:buNone/>
            </a:pPr>
            <a:r>
              <a:rPr lang="pt-BR" sz="2400" dirty="0">
                <a:latin typeface="Times New Roman"/>
              </a:rPr>
              <a:t>PLATAFORMA PARA PLANEJAMENTO FINANCEIRO: desenvolvimento de aplicação Web. 2020. Trabalho de Conclusão de Curso (Graduação em Engenharia de Software) – Universidade Federal do Rio Grande do Sul, Porto Alegre, 2020. Disponível em: Lume UFRGS. Acesso em: 30 mai. 2025.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5BEA308-2D38-29E6-4796-72AA4C39CE6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96EDF4-0260-4CEC-BC4D-BBE66DCBAF95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1DD2AB-65A7-920A-56C2-B63F358C6D1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A6AAA0-4D2F-49F4-8C7D-F78337C55785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376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D8C24-B447-ACE8-C8CB-C9B51BFD0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27B7E47-7C07-6396-F71A-65CE76356C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anchor="b">
            <a:noAutofit/>
          </a:bodyPr>
          <a:lstStyle/>
          <a:p>
            <a:pPr>
              <a:defRPr/>
            </a:pPr>
            <a:r>
              <a:rPr lang="pt-BR" dirty="0">
                <a:latin typeface="Times New Roman"/>
                <a:cs typeface="Calibri"/>
              </a:rPr>
              <a:t>9. Cronograma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4BD2781-2632-BF75-44FA-14B77B5331E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96EDF4-0260-4CEC-BC4D-BBE66DCBAF95}" type="datetime1">
              <a:rPr lang="pt-BR" smtClean="0"/>
              <a:pPr/>
              <a:t>09/06/2025</a:t>
            </a:fld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9B49E1-7ECD-2593-14C2-73DAFA7EDF7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A6AAA0-4D2F-49F4-8C7D-F78337C55785}" type="slidenum">
              <a:rPr lang="pt-BR" smtClean="0"/>
              <a:pPr/>
              <a:t>13</a:t>
            </a:fld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D65F9B6-806F-8865-28F5-A1C2EA24F5C9}"/>
              </a:ext>
            </a:extLst>
          </p:cNvPr>
          <p:cNvSpPr txBox="1"/>
          <p:nvPr/>
        </p:nvSpPr>
        <p:spPr>
          <a:xfrm>
            <a:off x="2220686" y="293703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F3539B-4040-FD54-1DE6-E00FBC08A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67" y="1476102"/>
            <a:ext cx="8888065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70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f53e7d5-a6a2-4d4a-b237-e093ea9c716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B6244FF01BD6B459BA5C51AB6BC45D1" ma:contentTypeVersion="1" ma:contentTypeDescription="Crie um novo documento." ma:contentTypeScope="" ma:versionID="5be68dd8cd9902b14fec4385ab296e63">
  <xsd:schema xmlns:xsd="http://www.w3.org/2001/XMLSchema" xmlns:xs="http://www.w3.org/2001/XMLSchema" xmlns:p="http://schemas.microsoft.com/office/2006/metadata/properties" xmlns:ns2="bf53e7d5-a6a2-4d4a-b237-e093ea9c7164" targetNamespace="http://schemas.microsoft.com/office/2006/metadata/properties" ma:root="true" ma:fieldsID="0feec3c91cbeb8204ecfc253ac9e254c" ns2:_="">
    <xsd:import namespace="bf53e7d5-a6a2-4d4a-b237-e093ea9c7164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3e7d5-a6a2-4d4a-b237-e093ea9c7164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C90DCE-C159-43FC-B0D9-5A5876C0E829}">
  <ds:schemaRefs>
    <ds:schemaRef ds:uri="http://schemas.microsoft.com/office/2006/metadata/properties"/>
    <ds:schemaRef ds:uri="http://schemas.microsoft.com/office/infopath/2007/PartnerControls"/>
    <ds:schemaRef ds:uri="bf53e7d5-a6a2-4d4a-b237-e093ea9c7164"/>
  </ds:schemaRefs>
</ds:datastoreItem>
</file>

<file path=customXml/itemProps2.xml><?xml version="1.0" encoding="utf-8"?>
<ds:datastoreItem xmlns:ds="http://schemas.openxmlformats.org/officeDocument/2006/customXml" ds:itemID="{6320656E-8E62-4019-9E91-8D3805EFC2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53e7d5-a6a2-4d4a-b237-e093ea9c71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095EFB-8A8E-4945-B19E-3AC4C669188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22124</TotalTime>
  <Words>676</Words>
  <Application>Microsoft Office PowerPoint</Application>
  <PresentationFormat>Apresentação na tela (4:3)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Century Schoolbook</vt:lpstr>
      <vt:lpstr>Courier New</vt:lpstr>
      <vt:lpstr>Times New Roman</vt:lpstr>
      <vt:lpstr>Wingdings</vt:lpstr>
      <vt:lpstr>Wingdings 2</vt:lpstr>
      <vt:lpstr>Oriel</vt:lpstr>
      <vt:lpstr>Apresentação do PowerPoint</vt:lpstr>
      <vt:lpstr>Sumário </vt:lpstr>
      <vt:lpstr>1. Introdução </vt:lpstr>
      <vt:lpstr>2. Objetivo Geral</vt:lpstr>
      <vt:lpstr>3. Objetivo Especifico</vt:lpstr>
      <vt:lpstr>4. Protótipo</vt:lpstr>
      <vt:lpstr>4. Protótipo</vt:lpstr>
      <vt:lpstr>4. Protótipo</vt:lpstr>
      <vt:lpstr>4. Protótipo</vt:lpstr>
      <vt:lpstr>5. Revisão bibliográfica</vt:lpstr>
      <vt:lpstr>6. Referências</vt:lpstr>
      <vt:lpstr>6. Referências</vt:lpstr>
      <vt:lpstr>9. Cronograma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Ana Letícia</dc:creator>
  <cp:lastModifiedBy>Wesley  Bernardes De Souza Júnior</cp:lastModifiedBy>
  <cp:revision>1129</cp:revision>
  <dcterms:created xsi:type="dcterms:W3CDTF">2010-08-06T13:28:01Z</dcterms:created>
  <dcterms:modified xsi:type="dcterms:W3CDTF">2025-06-10T01:12:35Z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0x0101006B6244FF01BD6B459BA5C51AB6BC45D1</vt:lpwstr>
  </property>
</Properties>
</file>