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84" r:id="rId4"/>
    <p:sldId id="285" r:id="rId5"/>
    <p:sldId id="286" r:id="rId6"/>
    <p:sldId id="287" r:id="rId7"/>
    <p:sldId id="272" r:id="rId8"/>
    <p:sldId id="288" r:id="rId9"/>
    <p:sldId id="289" r:id="rId10"/>
    <p:sldId id="290" r:id="rId11"/>
    <p:sldId id="291" r:id="rId12"/>
    <p:sldId id="292" r:id="rId13"/>
    <p:sldId id="294" r:id="rId14"/>
    <p:sldId id="293" r:id="rId15"/>
    <p:sldId id="295" r:id="rId16"/>
    <p:sldId id="301" r:id="rId17"/>
    <p:sldId id="296" r:id="rId18"/>
    <p:sldId id="302" r:id="rId19"/>
    <p:sldId id="298" r:id="rId20"/>
    <p:sldId id="304" r:id="rId21"/>
    <p:sldId id="300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352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84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266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05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311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505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3222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7866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287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9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000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4D08-9FF9-4AE7-A8F9-1C0578C438A8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45C5A-4676-4C72-9833-36C6445FB9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41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B94421A-3456-94B6-679F-AD44D7CBB1A8}"/>
              </a:ext>
            </a:extLst>
          </p:cNvPr>
          <p:cNvSpPr txBox="1"/>
          <p:nvPr/>
        </p:nvSpPr>
        <p:spPr>
          <a:xfrm>
            <a:off x="219757" y="5052813"/>
            <a:ext cx="851369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Lucas Faria, Luiz Fernando e Wesley Bernardes.</a:t>
            </a:r>
          </a:p>
          <a:p>
            <a:pPr algn="just"/>
            <a:r>
              <a:rPr lang="pt-BR" sz="2600" dirty="0">
                <a:latin typeface="Arial" panose="020B0604020202020204" pitchFamily="34" charset="0"/>
                <a:cs typeface="Arial" panose="020B0604020202020204" pitchFamily="34" charset="0"/>
              </a:rPr>
              <a:t>Centro de Universitário de Itajubá - FEPI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0FB409-7856-BCFA-F55D-E94B4498242C}"/>
              </a:ext>
            </a:extLst>
          </p:cNvPr>
          <p:cNvSpPr txBox="1"/>
          <p:nvPr/>
        </p:nvSpPr>
        <p:spPr>
          <a:xfrm>
            <a:off x="0" y="3044279"/>
            <a:ext cx="9144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Plataforma de controle 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financeiro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C3F496A-D803-49C3-BCF8-AEE48A5D39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97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10FB409-7856-BCFA-F55D-E94B4498242C}"/>
              </a:ext>
            </a:extLst>
          </p:cNvPr>
          <p:cNvSpPr txBox="1"/>
          <p:nvPr/>
        </p:nvSpPr>
        <p:spPr>
          <a:xfrm>
            <a:off x="374900" y="2387600"/>
            <a:ext cx="545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 ao projeto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F1EBC3-FB06-F888-9D1F-932831A9C81D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plataforma foi desenvolvida com o objetivo de auxiliar usuários no gerenciamento de suas finanças pessoais, por meio de uma interface intuitiva, recursos de controle de receitas, despesas e investimentos, e um dashboard personalizado com indicadores em tempo real.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98BE148-5201-4C83-BC08-C998209C8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9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6D0E-7963-34B2-BC63-8B52C2472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5187BFD-A287-99D0-C08E-39370524114F}"/>
              </a:ext>
            </a:extLst>
          </p:cNvPr>
          <p:cNvSpPr txBox="1"/>
          <p:nvPr/>
        </p:nvSpPr>
        <p:spPr>
          <a:xfrm>
            <a:off x="374900" y="2387600"/>
            <a:ext cx="620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Introdução do problema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9A93FFE-1350-3C0F-F0FE-D54A69718D41}"/>
              </a:ext>
            </a:extLst>
          </p:cNvPr>
          <p:cNvSpPr txBox="1"/>
          <p:nvPr/>
        </p:nvSpPr>
        <p:spPr>
          <a:xfrm>
            <a:off x="374901" y="3146286"/>
            <a:ext cx="83941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falta de controle financeiro pessoal é um dos principais fatores que levam ao endividamento no Brasil. Grande parte da população não acompanha suas receitas e despesas de forma organizada, e as plataformas existentes apresentam limitações, como planos pagos, falta de personalização e ausência de recursos avançados de gestão.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C7F85F-9D67-25F1-3AB3-64B20FD4B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92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E1FA2-3D1A-A86C-B10C-006EDC6B6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4B0D94C-55C3-2B2B-A399-D01CCBD3E435}"/>
              </a:ext>
            </a:extLst>
          </p:cNvPr>
          <p:cNvSpPr txBox="1"/>
          <p:nvPr/>
        </p:nvSpPr>
        <p:spPr>
          <a:xfrm>
            <a:off x="374900" y="2387600"/>
            <a:ext cx="6203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4FE6AE-ECA6-9367-EA1C-72DC80202E99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Implementar um dashboard com indicadores financeiros em tempo real.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Permitir o cadastro e controle de receitas, despesas e investimentos.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Disponibilizar recursos de personalização e operações em lote.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6FE5D72-DD4A-798B-2FCA-B349EC6AE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81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7B2D-E9B3-16E7-2FEE-AB2C05F5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09AA867-E8F3-FA5F-B621-CAC8806A9119}"/>
              </a:ext>
            </a:extLst>
          </p:cNvPr>
          <p:cNvSpPr txBox="1"/>
          <p:nvPr/>
        </p:nvSpPr>
        <p:spPr>
          <a:xfrm>
            <a:off x="374900" y="2387600"/>
            <a:ext cx="8394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Design Science 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(DSR)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D13527-64E6-C60B-AF7E-6788C7C27C97}"/>
              </a:ext>
            </a:extLst>
          </p:cNvPr>
          <p:cNvSpPr txBox="1"/>
          <p:nvPr/>
        </p:nvSpPr>
        <p:spPr>
          <a:xfrm>
            <a:off x="374901" y="3146286"/>
            <a:ext cx="83941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Identificação do problema e definição da solução.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Construção da plataforma como artefato tecnológico.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Avaliação da solução com base nos resultados esperados.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Projeção de melhorias e evolução contínua do sistema.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B3F1829-9363-918D-9AD7-9B2080590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857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DCE5-CFCA-F4E2-E1D5-13DC6A5E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7E32DFC-8DAD-768F-B3E8-F4B3056CF39F}"/>
              </a:ext>
            </a:extLst>
          </p:cNvPr>
          <p:cNvSpPr txBox="1"/>
          <p:nvPr/>
        </p:nvSpPr>
        <p:spPr>
          <a:xfrm>
            <a:off x="374900" y="2387600"/>
            <a:ext cx="8394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Desenvolvimento ágil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6AFA7A-85DC-E997-F1E3-250C17B1B836}"/>
              </a:ext>
            </a:extLst>
          </p:cNvPr>
          <p:cNvSpPr txBox="1"/>
          <p:nvPr/>
        </p:nvSpPr>
        <p:spPr>
          <a:xfrm>
            <a:off x="374901" y="3146286"/>
            <a:ext cx="83941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Utilizamos o SCRUM que é uma metodologia ágil que estrutura o trabalho em ciclos chamados sprints, permitindo adaptações rápidas e incrementos contínuos no projeto.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233311-F5A3-D9E1-F3B0-7FF0CF8B2F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200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4687D-E487-A755-6D34-2992BE803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1268306-C1C3-2502-C67D-C8FCEBAA4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051533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7B14462-95A0-62A6-116E-E91DB31C0E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2"/>
          <a:stretch/>
        </p:blipFill>
        <p:spPr>
          <a:xfrm>
            <a:off x="642631" y="2634682"/>
            <a:ext cx="7858738" cy="33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60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00151-886B-7C18-5B1A-6C97F63A7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83F5FD2-6B6A-173E-01EF-4DDFBC748B32}"/>
              </a:ext>
            </a:extLst>
          </p:cNvPr>
          <p:cNvSpPr txBox="1"/>
          <p:nvPr/>
        </p:nvSpPr>
        <p:spPr>
          <a:xfrm>
            <a:off x="374900" y="2387600"/>
            <a:ext cx="8394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Escopo do projeto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205A7B-40AC-805C-9F68-BB7D09DBA399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Gerenciar contas, categorias e transações financeiras.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Exibir dashboard com indicadores atualizados em tempo real.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Permitir operações de cadastro, edição e exclusão em lote.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B26756F-54D7-9C36-60F1-6CAD3336F5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23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5305-E65C-26D6-F070-A0E5522BF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F6E1E08-38FA-F34E-C67D-3B8BD316BDE4}"/>
              </a:ext>
            </a:extLst>
          </p:cNvPr>
          <p:cNvSpPr txBox="1"/>
          <p:nvPr/>
        </p:nvSpPr>
        <p:spPr>
          <a:xfrm>
            <a:off x="374900" y="2387600"/>
            <a:ext cx="563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Tecnologias front-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endParaRPr 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321AE2-5727-0807-E8A8-36003A5465C8}"/>
              </a:ext>
            </a:extLst>
          </p:cNvPr>
          <p:cNvSpPr txBox="1"/>
          <p:nvPr/>
        </p:nvSpPr>
        <p:spPr>
          <a:xfrm>
            <a:off x="374902" y="3146286"/>
            <a:ext cx="52400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do nosso front-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utilizamos ferramentas como: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A24B92C-BA44-703C-1F6A-E71294B4B6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59F1EC7C-CD61-648D-5D51-1CF0EE0AD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184" y="3382239"/>
            <a:ext cx="873725" cy="87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CD5A081D-EA76-4F37-0E78-0FEA12E36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785" y="4383028"/>
            <a:ext cx="1158031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6" descr="Radix UI Vector Logo - Download Free SVG Icon | Worldvectorlogo">
            <a:extLst>
              <a:ext uri="{FF2B5EF4-FFF2-40B4-BE49-F238E27FC236}">
                <a16:creationId xmlns:a16="http://schemas.microsoft.com/office/drawing/2014/main" id="{08020937-013E-1350-456E-A240BE8937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244" y="4499048"/>
            <a:ext cx="760110" cy="75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0">
            <a:extLst>
              <a:ext uri="{FF2B5EF4-FFF2-40B4-BE49-F238E27FC236}">
                <a16:creationId xmlns:a16="http://schemas.microsoft.com/office/drawing/2014/main" id="{BE2A453B-8823-8879-8068-3DFA3A823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8244" y="5792517"/>
            <a:ext cx="1707881" cy="47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2" descr="What is React Query: everything you need to know | DECODE">
            <a:extLst>
              <a:ext uri="{FF2B5EF4-FFF2-40B4-BE49-F238E27FC236}">
                <a16:creationId xmlns:a16="http://schemas.microsoft.com/office/drawing/2014/main" id="{7AFCF5B6-0708-3727-BEC7-B63C64004A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0" t="9829" r="31808" b="36247"/>
          <a:stretch/>
        </p:blipFill>
        <p:spPr bwMode="auto">
          <a:xfrm>
            <a:off x="7895516" y="4661284"/>
            <a:ext cx="996558" cy="89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F9216A43-3943-A01F-1C80-199895F8957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1763" y="5255779"/>
            <a:ext cx="610181" cy="610181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88B5660-2D43-604D-B905-0F4DF3B969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37466" y="3007421"/>
            <a:ext cx="1132242" cy="1132242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0885C5E-8D55-5098-11EA-0B9418467108}"/>
              </a:ext>
            </a:extLst>
          </p:cNvPr>
          <p:cNvSpPr txBox="1"/>
          <p:nvPr/>
        </p:nvSpPr>
        <p:spPr>
          <a:xfrm>
            <a:off x="413260" y="4591222"/>
            <a:ext cx="4872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NextJS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TailwindCSS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Shadcn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8" name="Picture 4" descr="Blog">
            <a:extLst>
              <a:ext uri="{FF2B5EF4-FFF2-40B4-BE49-F238E27FC236}">
                <a16:creationId xmlns:a16="http://schemas.microsoft.com/office/drawing/2014/main" id="{FEEFB809-849C-E24D-C9D1-9D94D3D45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31" t="13063" r="17637" b="12626"/>
          <a:stretch>
            <a:fillRect/>
          </a:stretch>
        </p:blipFill>
        <p:spPr bwMode="auto">
          <a:xfrm>
            <a:off x="7131722" y="2431269"/>
            <a:ext cx="660462" cy="707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095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2423-61C1-BB46-BAD8-F2FF8D32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F87DD527-BA92-8202-7B8E-97546C06050D}"/>
              </a:ext>
            </a:extLst>
          </p:cNvPr>
          <p:cNvSpPr txBox="1"/>
          <p:nvPr/>
        </p:nvSpPr>
        <p:spPr>
          <a:xfrm>
            <a:off x="374900" y="2387600"/>
            <a:ext cx="563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Tecnologias </a:t>
            </a:r>
            <a:r>
              <a:rPr lang="pt-BR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endParaRPr lang="pt-B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E98C11-9FA9-A54C-90FA-309C49931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2" name="Picture 8">
            <a:extLst>
              <a:ext uri="{FF2B5EF4-FFF2-40B4-BE49-F238E27FC236}">
                <a16:creationId xmlns:a16="http://schemas.microsoft.com/office/drawing/2014/main" id="{D6E6B175-BBDC-5A79-2589-AA215A031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935" y="3276013"/>
            <a:ext cx="812605" cy="81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3501F351-76D2-F3D8-FFFA-975123731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8134" y="4441905"/>
            <a:ext cx="977195" cy="100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ono - Web framework built on Web Standards">
            <a:extLst>
              <a:ext uri="{FF2B5EF4-FFF2-40B4-BE49-F238E27FC236}">
                <a16:creationId xmlns:a16="http://schemas.microsoft.com/office/drawing/2014/main" id="{5D3BD744-46F5-0DA7-684C-195F97CC8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3526" y="4822521"/>
            <a:ext cx="2123718" cy="56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92569D4-5D46-B1AC-C17B-BA3BB12CB0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578" y="3429000"/>
            <a:ext cx="1267392" cy="12673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7745C79-6AC1-E6BC-6261-C8404B57F16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9310" b="18163"/>
          <a:stretch>
            <a:fillRect/>
          </a:stretch>
        </p:blipFill>
        <p:spPr>
          <a:xfrm>
            <a:off x="5103204" y="5704844"/>
            <a:ext cx="1248915" cy="78091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20B02C9-9ED5-9888-F3F9-4720CD8471C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278" t="33796" r="9588" b="30446"/>
          <a:stretch>
            <a:fillRect/>
          </a:stretch>
        </p:blipFill>
        <p:spPr>
          <a:xfrm>
            <a:off x="6693526" y="5744714"/>
            <a:ext cx="1968501" cy="57926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C159D68-8C64-5997-552D-2B29D0CF31BA}"/>
              </a:ext>
            </a:extLst>
          </p:cNvPr>
          <p:cNvSpPr txBox="1"/>
          <p:nvPr/>
        </p:nvSpPr>
        <p:spPr>
          <a:xfrm>
            <a:off x="374902" y="3146286"/>
            <a:ext cx="524008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Para o desenvolvimento do nosso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back-end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utilizamos ferramentas como: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5F5163C-CD1F-C5AB-5EEB-C4FDDA8B7C49}"/>
              </a:ext>
            </a:extLst>
          </p:cNvPr>
          <p:cNvSpPr txBox="1"/>
          <p:nvPr/>
        </p:nvSpPr>
        <p:spPr>
          <a:xfrm>
            <a:off x="413260" y="4591222"/>
            <a:ext cx="48725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NextJS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PostgreSQL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Hono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DrizzleORM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022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FCF59-0659-6E7D-6095-05946359F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552B2D8-F60C-B7DF-35DC-85048CA885EE}"/>
              </a:ext>
            </a:extLst>
          </p:cNvPr>
          <p:cNvSpPr txBox="1"/>
          <p:nvPr/>
        </p:nvSpPr>
        <p:spPr>
          <a:xfrm>
            <a:off x="374900" y="2387600"/>
            <a:ext cx="563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Resultados esperados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D497135-7E21-20A8-5A51-1B4AB99213FC}"/>
              </a:ext>
            </a:extLst>
          </p:cNvPr>
          <p:cNvSpPr txBox="1"/>
          <p:nvPr/>
        </p:nvSpPr>
        <p:spPr>
          <a:xfrm>
            <a:off x="374901" y="3146286"/>
            <a:ext cx="83941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Plataforma funcional para controle financeiro pessoal.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Interface intuitiva com dashboard dinâmico.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Gestão simplificada de contas, categorias e transações.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Recursos que aumentam a autonomia e organização do usuário.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B176A3C-0A9B-AACC-FA34-99065357D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473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2C77-16DB-AE23-E43C-04C4408C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92C13FC-92F6-81D3-57AD-3D9F11AF5FF9}"/>
              </a:ext>
            </a:extLst>
          </p:cNvPr>
          <p:cNvSpPr txBox="1"/>
          <p:nvPr/>
        </p:nvSpPr>
        <p:spPr>
          <a:xfrm>
            <a:off x="374900" y="2387600"/>
            <a:ext cx="6292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inicial da plataforma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B4F199-AC84-9BDA-CFB9-E80BB269B81F}"/>
              </a:ext>
            </a:extLst>
          </p:cNvPr>
          <p:cNvSpPr txBox="1"/>
          <p:nvPr/>
        </p:nvSpPr>
        <p:spPr>
          <a:xfrm>
            <a:off x="374901" y="3146286"/>
            <a:ext cx="8394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Apresenta o dashboard com visão geral das contas, saldo consolidado e indicadores financeiros em tempo real.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8EBA855-D195-582F-D450-CD6AB83BF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977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6CBE5-870C-FBE0-53B3-A1283839C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0B68C0B3-7111-5444-DBD2-0857460A20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970450F4-4EBC-1FAC-041D-80A79823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2" y="2559553"/>
            <a:ext cx="8003335" cy="402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240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0C13-EE20-F80E-C881-160CFBF8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6747E44-A663-8949-A5EC-F00C021F1DC5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gestão de transações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4387F14-55DD-C32B-4662-5636EC68C4C7}"/>
              </a:ext>
            </a:extLst>
          </p:cNvPr>
          <p:cNvSpPr txBox="1"/>
          <p:nvPr/>
        </p:nvSpPr>
        <p:spPr>
          <a:xfrm>
            <a:off x="374901" y="3146286"/>
            <a:ext cx="8394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Registro de receitas, despesas e investimentos com filtros, detalhamento e operações em lote.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7C2880C-05CC-F9BC-F1F2-E2866FE7E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00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12570-BF62-3000-CE22-077AAF8E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9A91A5D-6216-A3A7-A433-A9810E912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10BB3BC-9B68-B662-559B-3E496716A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3" y="2575362"/>
            <a:ext cx="8003334" cy="399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136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805BE-39C0-E402-E559-E9B4D174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956E1A2E-7B24-777D-6255-459C51993294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gestão de contas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30B98F-A696-333D-CE6C-34B5EBC545C2}"/>
              </a:ext>
            </a:extLst>
          </p:cNvPr>
          <p:cNvSpPr txBox="1"/>
          <p:nvPr/>
        </p:nvSpPr>
        <p:spPr>
          <a:xfrm>
            <a:off x="374901" y="3146286"/>
            <a:ext cx="83941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Gerenciamento de contas bancárias, carteiras digitais e investimentos, com atualização automática de saldo.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80ABDAE-9697-7159-9FBA-2241F374E0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6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DBBC5-138B-72BC-E2C6-6B755CED7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3FCA4AF0-0BC6-0D72-96BF-8E3AC6FF1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76AFC2BB-7B98-7F70-AA30-A058A6910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3" y="2575362"/>
            <a:ext cx="8003334" cy="3980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0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90BA-C3C4-582D-D1D1-C701457F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CF685AFF-F50A-20F0-7C32-7D37373A9D90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gestão de categorias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D71EFD5-7C7C-D413-6725-84CDFD1B85DA}"/>
              </a:ext>
            </a:extLst>
          </p:cNvPr>
          <p:cNvSpPr txBox="1"/>
          <p:nvPr/>
        </p:nvSpPr>
        <p:spPr>
          <a:xfrm>
            <a:off x="374901" y="3146286"/>
            <a:ext cx="83941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Permite cadastrar, editar e excluir categorias de receitas e despesas de forma personalizada.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B7050A-C577-C487-3C32-18DCCC5EA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077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19D6-1F55-F752-26F7-53AF6477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5E2EC41-F1A2-4B91-38F4-654A3F09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B8B0FE39-CB46-DE6D-F940-9464567D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49" y="2575363"/>
            <a:ext cx="8015918" cy="398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80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35691-98CE-F7FE-5B57-BA99EBF4B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D821B48-311B-E528-9E7B-6D3DB7A761B8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Tela de configuração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8C0732-8A04-C473-F1B9-C182015C5304}"/>
              </a:ext>
            </a:extLst>
          </p:cNvPr>
          <p:cNvSpPr txBox="1"/>
          <p:nvPr/>
        </p:nvSpPr>
        <p:spPr>
          <a:xfrm>
            <a:off x="374901" y="3146286"/>
            <a:ext cx="8394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Escolha de idioma e tema.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52E177-70AF-5D16-DD38-C7B7FE2B0E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934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CAA8D-D09E-A1ED-C915-B145AE97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4F205557-79F4-C2E5-D8F0-E7B1B8DBB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4B1BCCD-E2FD-B210-3C6A-7FEB05A4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3" y="2575363"/>
            <a:ext cx="8020116" cy="398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3602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1DEDE-2E2F-1CCB-D49F-01A600231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B6CDF36-C4D3-6E97-910A-3E5966E56936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Discussão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9809AF0-5C78-4147-9B00-27FE7BE50363}"/>
              </a:ext>
            </a:extLst>
          </p:cNvPr>
          <p:cNvSpPr txBox="1"/>
          <p:nvPr/>
        </p:nvSpPr>
        <p:spPr>
          <a:xfrm>
            <a:off x="374901" y="3146286"/>
            <a:ext cx="83941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plataforma demonstrou potencial para melhorar a organização financeira dos usuários, oferecendo uma experiência moderna, gratuita e alinhada às necessidades reais do público. Os recursos implementados superam limitações de soluções existentes e indicam possibilidade de aplicação em larga escala.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50540F-54C5-D65D-C3FC-D5D95728E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18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FDC90-4467-5D93-3C72-385FFA513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D7D0AC1-46B1-176F-7DB1-AF82C6FAC8D1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CE2E787-54EB-5DC9-6F38-131764C4AF9B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 plataforma apresentou-se como uma solução eficiente e acessível para o controle financeiro pessoal, promovendo autonomia, organização e educação financeira. O projeto comprova sua viabilidade técnica e relevância social, com potencial de expansão futura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EFD0EC8-4A81-0253-2C43-D38E45829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300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CD9A5-7192-E90B-9986-1C80EA9B9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8C2B096-8DD0-CB14-81FE-54B5BBC5A6CF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6B26E61-4CA3-85B7-E8E3-FE89A08A7E1B}"/>
              </a:ext>
            </a:extLst>
          </p:cNvPr>
          <p:cNvSpPr txBox="1"/>
          <p:nvPr/>
        </p:nvSpPr>
        <p:spPr>
          <a:xfrm>
            <a:off x="374901" y="3146286"/>
            <a:ext cx="8394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ANDRADE, I. K. M. et al. Aplicativo para controle financeiro de estudantes universitários. Revista de Gestão e Secretariado (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GeSec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), v. 15, n. 4, p. 01-20, 2024. ISSN 2178-9010.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CODD, E. F. A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model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data for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large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shared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data banks. Communications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ACM, v. 13, n. 6, p. 377-387, 1970. DOI: 10.1145/362384.362685.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HEVNER, A. R. et al. Design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systems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MIS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Quarterly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v. 28, n. 1, p. 75–105, 2004.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9C5DE58-40C3-A08C-E263-E43952908C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1465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2736F-90CC-C25F-03B1-4DBDAC99B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C44D1C0-964B-2171-5989-C87B555D31B2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7DF82B-B477-9A20-629B-DB01ACD0E9B9}"/>
              </a:ext>
            </a:extLst>
          </p:cNvPr>
          <p:cNvSpPr txBox="1"/>
          <p:nvPr/>
        </p:nvSpPr>
        <p:spPr>
          <a:xfrm>
            <a:off x="374901" y="3146286"/>
            <a:ext cx="8394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GOVEIA, A. S. Plataforma para planejamento financeiro. 2022. Monografia (Bacharelado em Ciência da Computação) – Instituto de Informática, Universidade Federal do Rio Grande do Sul, Porto Alegre, 2022.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SANTILOTO, P. H. G.; GIUSTI, R. A. E-Wallet: sistema web de controle financeiro. 2022. Monografia (Tecnologia em Análise e Desenvolvimento de Sistemas) – Instituto Federal de Educação, Ciência e Tecnologia de São Paulo, Catanduva, 2022.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53A6A0B-6BC6-D4D9-9A25-20D54683E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824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6AE32-D72F-84BB-C688-BE70D62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D643987-0531-5A20-F155-1BEB652524A6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B6FD009-84F4-9F9A-963D-2E1E034E2BC0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JARA, L. S.; MARTINS, M. O. Aplicação móvel para controle financeiro. 2012. Trabalho de Conclusão de Curso – Universidade Franciscana (UFN), Santa Maria, 2012.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OLIVEIRA, C. P. Sistema web para controle financeiro pessoal. 2023. Trabalho de Conclusão de Curso (Tecnólogo em Análise e Desenvolvimento de Sistemas) – Universidade Tecnológica Federal do Paraná, Pato Branco, 2023.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ECC19FD-2B5C-AF74-6115-A1647D2CC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2810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F039E-0A71-26D9-D9C6-71DE8D66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AC771CCE-3991-CED2-FB7F-B94E3AC6F743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AD2ED0C-683D-F26C-95DE-0FC5C8FEF7D4}"/>
              </a:ext>
            </a:extLst>
          </p:cNvPr>
          <p:cNvSpPr txBox="1"/>
          <p:nvPr/>
        </p:nvSpPr>
        <p:spPr>
          <a:xfrm>
            <a:off x="374901" y="3146286"/>
            <a:ext cx="8394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PORTO, A. D. SMART WALLET: aplicativo para controle financeiro inteligente com comandos de voz. 2023. Trabalho de Conclusão de Curso (Bacharelado em Ciência da Computação) – Universidade Federal de Campina Grande, Campina Grande, 2023.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RABELO, C. S. Controle financeiro para dispositivos móveis. 2012. Trabalho de Conclusão de Curso (Bacharelado em Sistemas de Informação) – Faculdade Dr. Francisco Maeda, Ituverava, 2012.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F002C72-1F33-3635-D13D-BF89740AB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039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00B72-D159-5A8E-57E7-EA5ABB32C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8D332F6-D0AC-BF1B-43E8-6FAF8CDDA971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8F8A5D4-4B02-450D-31B9-05B7C2C20C34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BRANDÃO, R. S.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Sobcontrole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– sistema de controle de finanças pessoais. 2018. Trabalho de Conclusão de Curso – Centro Universitário de Caratinga – UNEC, Caratinga, 2018.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FIELDING, R. T.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Architectural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styles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design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network-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architectures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2000. Tese (Doutorado em Ciência da Computação) –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California, Irvine, 2000.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A92F8FC-F3A0-6C19-82CB-293C8CF05B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53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EB4CE-81DC-41AA-22AB-8099EA052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4C33094-189D-9956-7427-1736371BC51F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088FF0-0127-3924-AA4F-093CE8A75E28}"/>
              </a:ext>
            </a:extLst>
          </p:cNvPr>
          <p:cNvSpPr txBox="1"/>
          <p:nvPr/>
        </p:nvSpPr>
        <p:spPr>
          <a:xfrm>
            <a:off x="374901" y="3146286"/>
            <a:ext cx="83941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PRESSMAN, R. S. Engenharia de software: uma abordagem profissional. 7. ed. São Paulo: McGraw-Hill, 2011.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BEZERRA, E. Princípios de análise e projeto de sistemas com UML. 3. ed. Rio de Janeiro: Elsevier, 2015.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MARCIANO, D. et al. Desenvolvimento de software com metodologias ágeis. São Paulo: Senac, 2021.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C422AAF-DF5F-FB7D-2442-FD8D14FC2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216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5FBB-21AB-7EE9-8EF4-FF19A2670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32FF692-40D4-F1BD-F9F6-82DEFB6C2C83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37FA7D9-CC77-D023-1896-CDD78E1C5EE1}"/>
              </a:ext>
            </a:extLst>
          </p:cNvPr>
          <p:cNvSpPr txBox="1"/>
          <p:nvPr/>
        </p:nvSpPr>
        <p:spPr>
          <a:xfrm>
            <a:off x="374901" y="3146286"/>
            <a:ext cx="83941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AWS.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API?. Disponível em: https://aws.amazon.com/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what-is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/api/. Acesso em: 15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HONO.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Hono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ultrafast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web framework for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Edge. Disponível em: https://hono.dev. Acesso em: 16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DRIZZLE TEAM.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Drizzle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ORM –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ORM. Disponível em: https://orm.drizzle.team. Acesso em: 16 out. 2025.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300EF21-4E12-BEFE-C737-4A5481920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514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F2FE9-9D22-7427-760C-FADF2BC0B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E0DD69DF-1AE7-CD29-A525-BA81DB5AA8F0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9B21533-37A8-7124-E174-C549991C6933}"/>
              </a:ext>
            </a:extLst>
          </p:cNvPr>
          <p:cNvSpPr txBox="1"/>
          <p:nvPr/>
        </p:nvSpPr>
        <p:spPr>
          <a:xfrm>
            <a:off x="374901" y="3146286"/>
            <a:ext cx="83941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MICROSOFT AZURE.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SaaS? Software as a Service. Disponível em: https://azure.microsoft.com/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en-us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resources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/cloud-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computing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what-is-saas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Acesso em: 15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META.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https://react.dev. Acesso em: 17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MICROSOFT.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TypeScript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https://www.typescriptlang.org/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/. Acesso em: 17 out. 2025.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A1213F4-8271-E3B4-363B-75177ACA1B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5883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BEB62-BCC1-A417-C1E9-C1919A46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AA720C3-3203-4EF6-1773-CC0DFB0CE58F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2B2EB3F-4DD9-DD03-F8B6-204E32253D2E}"/>
              </a:ext>
            </a:extLst>
          </p:cNvPr>
          <p:cNvSpPr txBox="1"/>
          <p:nvPr/>
        </p:nvSpPr>
        <p:spPr>
          <a:xfrm>
            <a:off x="374901" y="3146286"/>
            <a:ext cx="83941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RADIX UI.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Primitives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https://www.radix-ui.com/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primitives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Acesso em: 17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SHADCN.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shadcn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/ui. Disponível em: https://ui.shadcn.com. Acesso em: 17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POSTGRESQL GLOBAL DEVELOPMENT GROUP. PostgreSQL. Disponível em: https://www.postgresql.org. Acesso em: 16 out. 2025.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164C1EE-AABE-188A-BBA7-B656FF24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346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8AD1-EEDA-8B76-BB90-7446B2CB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7197108-87B4-DDB0-D099-39252348A3A6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1EDEA3-ED80-1BE9-50B7-87A988A266AB}"/>
              </a:ext>
            </a:extLst>
          </p:cNvPr>
          <p:cNvSpPr txBox="1"/>
          <p:nvPr/>
        </p:nvSpPr>
        <p:spPr>
          <a:xfrm>
            <a:off x="374901" y="3146286"/>
            <a:ext cx="83941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VERCEL. Next.js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Documentation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- API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Routes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https://nextjs.org/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docs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/api-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routes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Acesso em: 16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ONU. A Agenda 2030 no Brasil. Disponível em: https://brasil.un.org/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pt-br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sdgs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Acesso em: 14 out. 2025.</a:t>
            </a:r>
          </a:p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OECD.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Consumer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Prices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https://data.oecd.org/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price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/inflation-cpi.htm. Acesso em: 2025.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FFB8174-4204-6F6A-B2E9-12D4998347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43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A7F90-FF8E-A418-0AA5-46A3D74D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90C1855-AAC1-2CDE-A480-55682785AA93}"/>
              </a:ext>
            </a:extLst>
          </p:cNvPr>
          <p:cNvSpPr txBox="1"/>
          <p:nvPr/>
        </p:nvSpPr>
        <p:spPr>
          <a:xfrm>
            <a:off x="374900" y="2387600"/>
            <a:ext cx="819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6501B8C-75BD-C8B9-A2C6-3DA214A256F8}"/>
              </a:ext>
            </a:extLst>
          </p:cNvPr>
          <p:cNvSpPr txBox="1"/>
          <p:nvPr/>
        </p:nvSpPr>
        <p:spPr>
          <a:xfrm>
            <a:off x="374901" y="3146286"/>
            <a:ext cx="8394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MANIFESTO ÁGIL. Manifesto for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Agile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Software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Development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. Disponível em: https://agilemanifesto.org. Acesso em: 17 out. 2025.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7580D97-80EB-3E2B-4686-AA28E9330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235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290</TotalTime>
  <Words>1383</Words>
  <Application>Microsoft Office PowerPoint</Application>
  <PresentationFormat>Apresentação na tela (4:3)</PresentationFormat>
  <Paragraphs>92</Paragraphs>
  <Slides>34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Lucila Martins Riera Osório C</dc:creator>
  <cp:lastModifiedBy>Wesley  Bernardes De Souza Júnior</cp:lastModifiedBy>
  <cp:revision>11</cp:revision>
  <dcterms:created xsi:type="dcterms:W3CDTF">2024-09-13T15:07:49Z</dcterms:created>
  <dcterms:modified xsi:type="dcterms:W3CDTF">2025-10-28T22:58:35Z</dcterms:modified>
</cp:coreProperties>
</file>